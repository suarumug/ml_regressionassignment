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9" d="100"/>
          <a:sy n="79" d="100"/>
        </p:scale>
        <p:origin x="4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138D-C54A-4C1C-0981-E34C5A6658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98B33B-4BEF-8085-5428-4B368C9AA2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6A718F-EE45-8A38-7977-696BEC1A03AD}"/>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5" name="Footer Placeholder 4">
            <a:extLst>
              <a:ext uri="{FF2B5EF4-FFF2-40B4-BE49-F238E27FC236}">
                <a16:creationId xmlns:a16="http://schemas.microsoft.com/office/drawing/2014/main" id="{51AAEABB-59A6-6956-ECFC-E4761A0B1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2577A-0013-51E9-E341-E9972AB29F27}"/>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701953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9BF3E-CCD5-2E72-722E-4AD8EDF282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57FCF7-4E80-E544-45F4-1A1A6AA275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F971E-180C-539D-1FC6-9E1361036545}"/>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5" name="Footer Placeholder 4">
            <a:extLst>
              <a:ext uri="{FF2B5EF4-FFF2-40B4-BE49-F238E27FC236}">
                <a16:creationId xmlns:a16="http://schemas.microsoft.com/office/drawing/2014/main" id="{3291BA19-9FB1-132D-A153-7D10E204C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575F1-67CF-D97D-15E2-800AC8D54D12}"/>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1034685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FBE3D-2411-C8B0-FF37-DA8C0426C2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F36A1F-EF63-0F93-1A4B-052E62E4B6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304BE1-C40B-5D48-BF0C-1DBFFC5285C9}"/>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5" name="Footer Placeholder 4">
            <a:extLst>
              <a:ext uri="{FF2B5EF4-FFF2-40B4-BE49-F238E27FC236}">
                <a16:creationId xmlns:a16="http://schemas.microsoft.com/office/drawing/2014/main" id="{2C5B3AB5-DB46-6D1B-4440-1B28C88115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3BFEA-7922-5F8C-D851-E9E1C6933229}"/>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196847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CBB6C-45E1-79ED-358F-99E98D6CC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F52846-FE81-896B-188E-F7FBA892DA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0EF229-D105-3C27-A055-344B12EEAA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0BEFE2-4312-301C-0590-4F7B4BECC889}"/>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6" name="Footer Placeholder 5">
            <a:extLst>
              <a:ext uri="{FF2B5EF4-FFF2-40B4-BE49-F238E27FC236}">
                <a16:creationId xmlns:a16="http://schemas.microsoft.com/office/drawing/2014/main" id="{C0123C88-483A-1D4D-3627-8266D730D4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EAF491-9D55-C2AD-412C-440BF0397C98}"/>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242627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0AF4-1FC8-991E-E037-17804C3387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53DCBF-85EE-3D63-9FBD-60D056E6B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091CEF-4A89-D900-11E8-F22266313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6994C2-D9B1-25C4-050D-20C91054AA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57D932-0C4C-B368-A8AD-7644F83647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10D564-223F-E3D1-E985-ACEBD9BD2E71}"/>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8" name="Footer Placeholder 7">
            <a:extLst>
              <a:ext uri="{FF2B5EF4-FFF2-40B4-BE49-F238E27FC236}">
                <a16:creationId xmlns:a16="http://schemas.microsoft.com/office/drawing/2014/main" id="{4C3DE6AD-A965-F178-3621-D4F77F1204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463CFF-1558-460F-964B-8C8CC1E9C0B6}"/>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3007275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01FE-E318-BAF0-40C0-6581C86077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16D09B-4F66-750C-3437-E7DC3963577C}"/>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4" name="Footer Placeholder 3">
            <a:extLst>
              <a:ext uri="{FF2B5EF4-FFF2-40B4-BE49-F238E27FC236}">
                <a16:creationId xmlns:a16="http://schemas.microsoft.com/office/drawing/2014/main" id="{D8B6677A-B276-0F76-1636-9E42E4B904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B9F303-5711-9874-DBCD-E085E1A5D6DE}"/>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3407751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544FB3-CACC-5887-6050-4708ED6836E3}"/>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3" name="Footer Placeholder 2">
            <a:extLst>
              <a:ext uri="{FF2B5EF4-FFF2-40B4-BE49-F238E27FC236}">
                <a16:creationId xmlns:a16="http://schemas.microsoft.com/office/drawing/2014/main" id="{23E73C0F-70C2-D941-91E1-E3ED51B34B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A04616-8C73-A816-DC48-E2E06126F788}"/>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205496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B1A4C-DFB4-EA8E-DB68-B2F4D55FC0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59D363-696C-B27D-BAFC-63E24901D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9FCAAA-6D12-BD83-9B66-89ABCA874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02D64-BE09-BA4D-953D-E3C6EE8A7E40}"/>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6" name="Footer Placeholder 5">
            <a:extLst>
              <a:ext uri="{FF2B5EF4-FFF2-40B4-BE49-F238E27FC236}">
                <a16:creationId xmlns:a16="http://schemas.microsoft.com/office/drawing/2014/main" id="{41BF1487-472E-098C-6E49-D7499C6AC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CDED4-A071-AB65-E3BB-F66D71BE8C25}"/>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1379109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909C-E835-F02A-93D1-AE6CB0149A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75967E-100E-B90D-48D6-175316C4E4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634142-3AEF-3C93-525D-1A31865077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CFA1DC-C3AD-47E8-7777-E3A9C3E2A9F4}"/>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6" name="Footer Placeholder 5">
            <a:extLst>
              <a:ext uri="{FF2B5EF4-FFF2-40B4-BE49-F238E27FC236}">
                <a16:creationId xmlns:a16="http://schemas.microsoft.com/office/drawing/2014/main" id="{F585E584-B849-F27D-1FE8-C81BE43342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AAD766-F035-294F-7C13-6AEF168FCD89}"/>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658815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AA37D-9FB5-4A6C-E6AE-8962B108D1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381A0B-848A-ACCF-76CB-C467A34BD3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5ED67D-750E-E770-7CC6-36660BA7A744}"/>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5" name="Footer Placeholder 4">
            <a:extLst>
              <a:ext uri="{FF2B5EF4-FFF2-40B4-BE49-F238E27FC236}">
                <a16:creationId xmlns:a16="http://schemas.microsoft.com/office/drawing/2014/main" id="{C1B54DC5-395E-B3DE-1B29-19A03A64B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A39015-8515-F09C-3BB3-A6A2F2E084C4}"/>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956376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DFD37B-CC6C-3EE5-4744-9518C6E982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87FED-F07C-6324-A955-4FE33C5B15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C2FE3-F226-0B03-DF22-11330017FB73}"/>
              </a:ext>
            </a:extLst>
          </p:cNvPr>
          <p:cNvSpPr>
            <a:spLocks noGrp="1"/>
          </p:cNvSpPr>
          <p:nvPr>
            <p:ph type="dt" sz="half" idx="10"/>
          </p:nvPr>
        </p:nvSpPr>
        <p:spPr/>
        <p:txBody>
          <a:bodyPr/>
          <a:lstStyle/>
          <a:p>
            <a:fld id="{4A31A74A-3A92-421C-BCF2-CAB994678747}" type="datetimeFigureOut">
              <a:rPr lang="en-US" smtClean="0"/>
              <a:t>3/11/2026</a:t>
            </a:fld>
            <a:endParaRPr lang="en-US"/>
          </a:p>
        </p:txBody>
      </p:sp>
      <p:sp>
        <p:nvSpPr>
          <p:cNvPr id="5" name="Footer Placeholder 4">
            <a:extLst>
              <a:ext uri="{FF2B5EF4-FFF2-40B4-BE49-F238E27FC236}">
                <a16:creationId xmlns:a16="http://schemas.microsoft.com/office/drawing/2014/main" id="{4B1F09D3-F042-847C-33EB-C70BEDC62A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621E3-55C8-000B-6021-EB932EE460B0}"/>
              </a:ext>
            </a:extLst>
          </p:cNvPr>
          <p:cNvSpPr>
            <a:spLocks noGrp="1"/>
          </p:cNvSpPr>
          <p:nvPr>
            <p:ph type="sldNum" sz="quarter" idx="12"/>
          </p:nvPr>
        </p:nvSpPr>
        <p:spPr/>
        <p:txBody>
          <a:bodyPr/>
          <a:lstStyle/>
          <a:p>
            <a:fld id="{AC227A91-8A4F-4368-AED6-52FD5227C025}" type="slidenum">
              <a:rPr lang="en-US" smtClean="0"/>
              <a:t>‹#›</a:t>
            </a:fld>
            <a:endParaRPr lang="en-US"/>
          </a:p>
        </p:txBody>
      </p:sp>
    </p:spTree>
    <p:extLst>
      <p:ext uri="{BB962C8B-B14F-4D97-AF65-F5344CB8AC3E}">
        <p14:creationId xmlns:p14="http://schemas.microsoft.com/office/powerpoint/2010/main" val="2208571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05D751-71B0-8705-BD7F-85D9BAAFFB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75FC5E-DDBD-780D-FAD2-F8ACEC6CAC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D61F6-497B-E415-1215-C7CC2B7808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31A74A-3A92-421C-BCF2-CAB994678747}" type="datetimeFigureOut">
              <a:rPr lang="en-US" smtClean="0"/>
              <a:t>3/11/2026</a:t>
            </a:fld>
            <a:endParaRPr lang="en-US"/>
          </a:p>
        </p:txBody>
      </p:sp>
      <p:sp>
        <p:nvSpPr>
          <p:cNvPr id="5" name="Footer Placeholder 4">
            <a:extLst>
              <a:ext uri="{FF2B5EF4-FFF2-40B4-BE49-F238E27FC236}">
                <a16:creationId xmlns:a16="http://schemas.microsoft.com/office/drawing/2014/main" id="{BDCA2F68-0D12-3EAC-AA0A-8238195DA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812C4E-475A-AABA-9644-3CC60CF34C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227A91-8A4F-4368-AED6-52FD5227C025}" type="slidenum">
              <a:rPr lang="en-US" smtClean="0"/>
              <a:t>‹#›</a:t>
            </a:fld>
            <a:endParaRPr lang="en-US"/>
          </a:p>
        </p:txBody>
      </p:sp>
    </p:spTree>
    <p:extLst>
      <p:ext uri="{BB962C8B-B14F-4D97-AF65-F5344CB8AC3E}">
        <p14:creationId xmlns:p14="http://schemas.microsoft.com/office/powerpoint/2010/main" val="2913748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2CBB7-AE63-1C94-0F7D-93DFBC59F69F}"/>
              </a:ext>
            </a:extLst>
          </p:cNvPr>
          <p:cNvSpPr>
            <a:spLocks noGrp="1"/>
          </p:cNvSpPr>
          <p:nvPr>
            <p:ph type="ctrTitle"/>
          </p:nvPr>
        </p:nvSpPr>
        <p:spPr>
          <a:xfrm>
            <a:off x="1267968" y="353569"/>
            <a:ext cx="9144000" cy="426719"/>
          </a:xfrm>
        </p:spPr>
        <p:txBody>
          <a:bodyPr>
            <a:normAutofit fontScale="90000"/>
          </a:bodyPr>
          <a:lstStyle/>
          <a:p>
            <a:r>
              <a:rPr lang="en-US" sz="3200" dirty="0"/>
              <a:t>Boosting Algorithm </a:t>
            </a:r>
          </a:p>
        </p:txBody>
      </p:sp>
      <p:sp>
        <p:nvSpPr>
          <p:cNvPr id="3" name="Subtitle 2">
            <a:extLst>
              <a:ext uri="{FF2B5EF4-FFF2-40B4-BE49-F238E27FC236}">
                <a16:creationId xmlns:a16="http://schemas.microsoft.com/office/drawing/2014/main" id="{B2E5855C-9164-2F23-7A5C-833255332089}"/>
              </a:ext>
            </a:extLst>
          </p:cNvPr>
          <p:cNvSpPr>
            <a:spLocks noGrp="1"/>
          </p:cNvSpPr>
          <p:nvPr>
            <p:ph type="subTitle" idx="1"/>
          </p:nvPr>
        </p:nvSpPr>
        <p:spPr>
          <a:xfrm>
            <a:off x="1267968" y="780288"/>
            <a:ext cx="10107168" cy="5864352"/>
          </a:xfrm>
        </p:spPr>
        <p:txBody>
          <a:bodyPr>
            <a:normAutofit/>
          </a:bodyPr>
          <a:lstStyle/>
          <a:p>
            <a:pPr algn="l"/>
            <a:r>
              <a:rPr lang="en-US" sz="2000" u="sng" dirty="0">
                <a:latin typeface="Calibri" panose="020F0502020204030204" pitchFamily="34" charset="0"/>
                <a:ea typeface="Calibri" panose="020F0502020204030204" pitchFamily="34" charset="0"/>
                <a:cs typeface="Calibri" panose="020F0502020204030204" pitchFamily="34" charset="0"/>
              </a:rPr>
              <a:t>AdaBoost Algorithm (Adaptive Boosting ):</a:t>
            </a:r>
          </a:p>
          <a:p>
            <a:pPr marL="342900" indent="-342900" algn="l">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AdaBoost an ensemble learning technique that combines multiple weak models to create a strong predictive model.</a:t>
            </a:r>
          </a:p>
          <a:p>
            <a:pPr marL="342900" indent="-342900" algn="l">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 works by adding the model </a:t>
            </a:r>
            <a:r>
              <a:rPr lang="en-US" sz="2000" b="1" dirty="0">
                <a:latin typeface="Calibri" panose="020F0502020204030204" pitchFamily="34" charset="0"/>
                <a:ea typeface="Calibri" panose="020F0502020204030204" pitchFamily="34" charset="0"/>
                <a:cs typeface="Calibri" panose="020F0502020204030204" pitchFamily="34" charset="0"/>
              </a:rPr>
              <a:t>sequentially </a:t>
            </a:r>
            <a:r>
              <a:rPr lang="en-US" sz="2000" dirty="0">
                <a:latin typeface="Calibri" panose="020F0502020204030204" pitchFamily="34" charset="0"/>
                <a:ea typeface="Calibri" panose="020F0502020204030204" pitchFamily="34" charset="0"/>
                <a:cs typeface="Calibri" panose="020F0502020204030204" pitchFamily="34" charset="0"/>
              </a:rPr>
              <a:t>to correct the errors made by previous model by adjusting the weight to the misclassified data point. </a:t>
            </a:r>
          </a:p>
        </p:txBody>
      </p:sp>
      <p:pic>
        <p:nvPicPr>
          <p:cNvPr id="5" name="Picture 4">
            <a:extLst>
              <a:ext uri="{FF2B5EF4-FFF2-40B4-BE49-F238E27FC236}">
                <a16:creationId xmlns:a16="http://schemas.microsoft.com/office/drawing/2014/main" id="{9E6A520C-CC8F-DFDF-C229-B8E786DE7B11}"/>
              </a:ext>
            </a:extLst>
          </p:cNvPr>
          <p:cNvPicPr>
            <a:picLocks noChangeAspect="1"/>
          </p:cNvPicPr>
          <p:nvPr/>
        </p:nvPicPr>
        <p:blipFill>
          <a:blip r:embed="rId2"/>
          <a:stretch>
            <a:fillRect/>
          </a:stretch>
        </p:blipFill>
        <p:spPr>
          <a:xfrm>
            <a:off x="2625336" y="2628569"/>
            <a:ext cx="7392432" cy="3724795"/>
          </a:xfrm>
          <a:prstGeom prst="rect">
            <a:avLst/>
          </a:prstGeom>
        </p:spPr>
      </p:pic>
    </p:spTree>
    <p:extLst>
      <p:ext uri="{BB962C8B-B14F-4D97-AF65-F5344CB8AC3E}">
        <p14:creationId xmlns:p14="http://schemas.microsoft.com/office/powerpoint/2010/main" val="10466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571473-C9C5-DC2E-9C97-6D03DDF267BB}"/>
              </a:ext>
            </a:extLst>
          </p:cNvPr>
          <p:cNvSpPr>
            <a:spLocks noGrp="1"/>
          </p:cNvSpPr>
          <p:nvPr>
            <p:ph idx="1"/>
          </p:nvPr>
        </p:nvSpPr>
        <p:spPr>
          <a:xfrm>
            <a:off x="838200" y="460121"/>
            <a:ext cx="10515600" cy="4351338"/>
          </a:xfrm>
        </p:spPr>
        <p:txBody>
          <a:bodyPr/>
          <a:lstStyle/>
          <a:p>
            <a:pPr marL="0" indent="0">
              <a:buNone/>
            </a:pPr>
            <a:r>
              <a:rPr lang="en-US" b="1" u="sng" dirty="0"/>
              <a:t>Advantage:</a:t>
            </a:r>
          </a:p>
          <a:p>
            <a:pPr marL="342900" indent="-342900"/>
            <a:r>
              <a:rPr lang="en-US" sz="2000" dirty="0">
                <a:latin typeface="Calibri" panose="020F0502020204030204" pitchFamily="34" charset="0"/>
                <a:ea typeface="Calibri" panose="020F0502020204030204" pitchFamily="34" charset="0"/>
                <a:cs typeface="Calibri" panose="020F0502020204030204" pitchFamily="34" charset="0"/>
              </a:rPr>
              <a:t>High Accuracy: Often produces better results than single decision tree by adjusting the weights</a:t>
            </a:r>
          </a:p>
          <a:p>
            <a:pPr marL="342900" indent="-342900"/>
            <a:r>
              <a:rPr lang="en-US" sz="2000" dirty="0">
                <a:latin typeface="Calibri" panose="020F0502020204030204" pitchFamily="34" charset="0"/>
                <a:ea typeface="Calibri" panose="020F0502020204030204" pitchFamily="34" charset="0"/>
                <a:cs typeface="Calibri" panose="020F0502020204030204" pitchFamily="34" charset="0"/>
              </a:rPr>
              <a:t>Simplicity : Simple to implement and Understand </a:t>
            </a:r>
          </a:p>
          <a:p>
            <a:pPr marL="342900" indent="-342900"/>
            <a:r>
              <a:rPr lang="en-US" sz="2000" dirty="0">
                <a:latin typeface="Calibri" panose="020F0502020204030204" pitchFamily="34" charset="0"/>
                <a:ea typeface="Calibri" panose="020F0502020204030204" pitchFamily="34" charset="0"/>
                <a:cs typeface="Calibri" panose="020F0502020204030204" pitchFamily="34" charset="0"/>
              </a:rPr>
              <a:t>Robustness: Good for Smaller, cleaner dataset </a:t>
            </a:r>
          </a:p>
          <a:p>
            <a:pPr marL="0" indent="0">
              <a:buNone/>
            </a:pPr>
            <a:endParaRPr lang="en-US" dirty="0"/>
          </a:p>
          <a:p>
            <a:pPr marL="0" indent="0">
              <a:buNone/>
            </a:pPr>
            <a:r>
              <a:rPr lang="en-US" b="1" u="sng" dirty="0"/>
              <a:t>Disadvantage: </a:t>
            </a:r>
          </a:p>
          <a:p>
            <a:pPr marL="342900" indent="-342900"/>
            <a:r>
              <a:rPr lang="en-US" sz="2000" dirty="0">
                <a:latin typeface="Calibri" panose="020F0502020204030204" pitchFamily="34" charset="0"/>
                <a:ea typeface="Calibri" panose="020F0502020204030204" pitchFamily="34" charset="0"/>
                <a:cs typeface="Calibri" panose="020F0502020204030204" pitchFamily="34" charset="0"/>
              </a:rPr>
              <a:t>For large data set, slower to train than some other methods because of its sequential. </a:t>
            </a:r>
          </a:p>
        </p:txBody>
      </p:sp>
    </p:spTree>
    <p:extLst>
      <p:ext uri="{BB962C8B-B14F-4D97-AF65-F5344CB8AC3E}">
        <p14:creationId xmlns:p14="http://schemas.microsoft.com/office/powerpoint/2010/main" val="47336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DCCE-5D82-B1E9-C975-9FF1FD5B9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36472-1883-63B4-2F8A-1903E35855BD}"/>
              </a:ext>
            </a:extLst>
          </p:cNvPr>
          <p:cNvSpPr>
            <a:spLocks noGrp="1"/>
          </p:cNvSpPr>
          <p:nvPr>
            <p:ph type="ctrTitle"/>
          </p:nvPr>
        </p:nvSpPr>
        <p:spPr>
          <a:xfrm>
            <a:off x="1267968" y="353569"/>
            <a:ext cx="9144000" cy="426719"/>
          </a:xfrm>
        </p:spPr>
        <p:txBody>
          <a:bodyPr>
            <a:normAutofit fontScale="90000"/>
          </a:bodyPr>
          <a:lstStyle/>
          <a:p>
            <a:r>
              <a:rPr lang="en-US" sz="3200" dirty="0" err="1"/>
              <a:t>XGBoost</a:t>
            </a:r>
            <a:r>
              <a:rPr lang="en-US" sz="3200" dirty="0"/>
              <a:t> Algorithm </a:t>
            </a:r>
          </a:p>
        </p:txBody>
      </p:sp>
      <p:sp>
        <p:nvSpPr>
          <p:cNvPr id="3" name="Subtitle 2">
            <a:extLst>
              <a:ext uri="{FF2B5EF4-FFF2-40B4-BE49-F238E27FC236}">
                <a16:creationId xmlns:a16="http://schemas.microsoft.com/office/drawing/2014/main" id="{7C1C77E7-21E7-43C7-70D8-4260B7D89F64}"/>
              </a:ext>
            </a:extLst>
          </p:cNvPr>
          <p:cNvSpPr>
            <a:spLocks noGrp="1"/>
          </p:cNvSpPr>
          <p:nvPr>
            <p:ph type="subTitle" idx="1"/>
          </p:nvPr>
        </p:nvSpPr>
        <p:spPr>
          <a:xfrm>
            <a:off x="1267968" y="780288"/>
            <a:ext cx="10107168" cy="5864352"/>
          </a:xfrm>
        </p:spPr>
        <p:txBody>
          <a:bodyPr>
            <a:normAutofit/>
          </a:bodyPr>
          <a:lstStyle/>
          <a:p>
            <a:pPr algn="l"/>
            <a:r>
              <a:rPr lang="en-US" sz="2000" u="sng" dirty="0" err="1">
                <a:latin typeface="Calibri" panose="020F0502020204030204" pitchFamily="34" charset="0"/>
                <a:ea typeface="Calibri" panose="020F0502020204030204" pitchFamily="34" charset="0"/>
                <a:cs typeface="Calibri" panose="020F0502020204030204" pitchFamily="34" charset="0"/>
              </a:rPr>
              <a:t>XGBoost</a:t>
            </a:r>
            <a:r>
              <a:rPr lang="en-US" sz="2000" u="sng" dirty="0">
                <a:latin typeface="Calibri" panose="020F0502020204030204" pitchFamily="34" charset="0"/>
                <a:ea typeface="Calibri" panose="020F0502020204030204" pitchFamily="34" charset="0"/>
                <a:cs typeface="Calibri" panose="020F0502020204030204" pitchFamily="34" charset="0"/>
              </a:rPr>
              <a:t> Algorithm</a:t>
            </a:r>
            <a:r>
              <a:rPr lang="en-US" sz="2000" u="sng"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2000" u="sng" dirty="0" err="1">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eXtreme</a:t>
            </a:r>
            <a:r>
              <a:rPr lang="en-US" sz="2000" u="sng"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Gradient Boosting):</a:t>
            </a:r>
            <a:endParaRPr lang="en-US" sz="2000" u="sng" dirty="0">
              <a:latin typeface="Calibri" panose="020F0502020204030204" pitchFamily="34" charset="0"/>
              <a:ea typeface="Calibri" panose="020F0502020204030204" pitchFamily="34" charset="0"/>
              <a:cs typeface="Calibri" panose="020F0502020204030204" pitchFamily="34" charset="0"/>
            </a:endParaRPr>
          </a:p>
          <a:p>
            <a:pPr algn="l"/>
            <a:r>
              <a:rPr lang="en-US" sz="2000" dirty="0" err="1">
                <a:latin typeface="Calibri" panose="020F0502020204030204" pitchFamily="34" charset="0"/>
                <a:ea typeface="Calibri" panose="020F0502020204030204" pitchFamily="34" charset="0"/>
                <a:cs typeface="Calibri" panose="020F0502020204030204" pitchFamily="34" charset="0"/>
              </a:rPr>
              <a:t>XGBoost</a:t>
            </a:r>
            <a:r>
              <a:rPr lang="en-US" sz="2000" dirty="0">
                <a:latin typeface="Calibri" panose="020F0502020204030204" pitchFamily="34" charset="0"/>
                <a:ea typeface="Calibri" panose="020F0502020204030204" pitchFamily="34" charset="0"/>
                <a:cs typeface="Calibri" panose="020F0502020204030204" pitchFamily="34" charset="0"/>
              </a:rPr>
              <a:t> an ensemble learning technique that combines multiple weak models to create a strong predictive model.</a:t>
            </a:r>
          </a:p>
          <a:p>
            <a:pPr marL="342900" indent="-342900" algn="l" fontAlgn="base">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XGBoost</a:t>
            </a:r>
            <a:r>
              <a:rPr lang="en-US" sz="2000" dirty="0">
                <a:latin typeface="Calibri" panose="020F0502020204030204" pitchFamily="34" charset="0"/>
                <a:ea typeface="Calibri" panose="020F0502020204030204" pitchFamily="34" charset="0"/>
                <a:cs typeface="Calibri" panose="020F0502020204030204" pitchFamily="34" charset="0"/>
              </a:rPr>
              <a:t> uses decision trees as its base learners and combines them sequentially to improve the model’s performance. Each new tree is trained to correct the errors made by the previous tree and this process is called boosting.</a:t>
            </a:r>
          </a:p>
          <a:p>
            <a:pPr marL="342900" indent="-342900" algn="l" fontAlgn="base">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 has built-in parallel processing to train models on large datasets quickly.</a:t>
            </a:r>
          </a:p>
          <a:p>
            <a:pPr algn="l"/>
            <a:endParaRPr lang="en-US" sz="2000" dirty="0">
              <a:latin typeface="Calibri" panose="020F0502020204030204" pitchFamily="34" charset="0"/>
              <a:ea typeface="Calibri" panose="020F0502020204030204" pitchFamily="34" charset="0"/>
              <a:cs typeface="Calibri" panose="020F0502020204030204" pitchFamily="34" charset="0"/>
            </a:endParaRPr>
          </a:p>
          <a:p>
            <a:pPr algn="l"/>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3558E83F-25DA-DD6E-39EE-C6020576505B}"/>
              </a:ext>
            </a:extLst>
          </p:cNvPr>
          <p:cNvPicPr>
            <a:picLocks noChangeAspect="1"/>
          </p:cNvPicPr>
          <p:nvPr/>
        </p:nvPicPr>
        <p:blipFill>
          <a:blip r:embed="rId2"/>
          <a:stretch>
            <a:fillRect/>
          </a:stretch>
        </p:blipFill>
        <p:spPr>
          <a:xfrm>
            <a:off x="3384325" y="3840480"/>
            <a:ext cx="4735547" cy="2906225"/>
          </a:xfrm>
          <a:prstGeom prst="rect">
            <a:avLst/>
          </a:prstGeom>
        </p:spPr>
      </p:pic>
    </p:spTree>
    <p:extLst>
      <p:ext uri="{BB962C8B-B14F-4D97-AF65-F5344CB8AC3E}">
        <p14:creationId xmlns:p14="http://schemas.microsoft.com/office/powerpoint/2010/main" val="1074174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FCFBD-94CA-CB91-74C4-CB584CBBCA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57778-6985-57B2-3075-C5EB41B1BEED}"/>
              </a:ext>
            </a:extLst>
          </p:cNvPr>
          <p:cNvSpPr>
            <a:spLocks noGrp="1"/>
          </p:cNvSpPr>
          <p:nvPr>
            <p:ph idx="1"/>
          </p:nvPr>
        </p:nvSpPr>
        <p:spPr>
          <a:xfrm>
            <a:off x="838200" y="460120"/>
            <a:ext cx="10515600" cy="5977255"/>
          </a:xfrm>
        </p:spPr>
        <p:txBody>
          <a:bodyPr>
            <a:normAutofit fontScale="55000" lnSpcReduction="20000"/>
          </a:bodyPr>
          <a:lstStyle/>
          <a:p>
            <a:pPr marL="0" indent="0">
              <a:buNone/>
            </a:pPr>
            <a:r>
              <a:rPr lang="en-US" b="1" u="sng" dirty="0"/>
              <a:t>Advantage:</a:t>
            </a:r>
          </a:p>
          <a:p>
            <a:r>
              <a:rPr lang="en-US" sz="2900" b="1" dirty="0"/>
              <a:t>High Performance &amp; Accuracy:</a:t>
            </a:r>
            <a:r>
              <a:rPr lang="en-US" sz="2900" dirty="0"/>
              <a:t> Often superior in structured data tasks, frequently used to win Kaggle competitions.</a:t>
            </a:r>
          </a:p>
          <a:p>
            <a:r>
              <a:rPr lang="en-US" sz="2900" b="1" dirty="0"/>
              <a:t>Built-in Regularization:</a:t>
            </a:r>
            <a:r>
              <a:rPr lang="en-US" sz="2900" dirty="0"/>
              <a:t> Includes L1 (Lasso​) and L2 (Ridge​) regularization to control model complexity and reduce overfitting.</a:t>
            </a:r>
          </a:p>
          <a:p>
            <a:r>
              <a:rPr lang="en-US" sz="2900" b="1" dirty="0"/>
              <a:t>Handles Missing Values:</a:t>
            </a:r>
            <a:r>
              <a:rPr lang="en-US" sz="2900" dirty="0"/>
              <a:t> Automatically learns the best split direction for missing data, eliminating the need for imputation.</a:t>
            </a:r>
          </a:p>
          <a:p>
            <a:r>
              <a:rPr lang="en-US" sz="2900" b="1" dirty="0"/>
              <a:t>Speed &amp; Scalability:</a:t>
            </a:r>
            <a:r>
              <a:rPr lang="en-US" sz="2900" dirty="0"/>
              <a:t> Utilizes parallel computing and cache-aware algorithms for faster training on large datasets.</a:t>
            </a:r>
          </a:p>
          <a:p>
            <a:r>
              <a:rPr lang="en-US" sz="2900" b="1" dirty="0"/>
              <a:t>Flexibility:</a:t>
            </a:r>
            <a:r>
              <a:rPr lang="en-US" sz="2900" dirty="0"/>
              <a:t> Supports custom loss functions and evaluation metrics, suitable for various regression problems</a:t>
            </a:r>
          </a:p>
          <a:p>
            <a:pPr marL="0" indent="0">
              <a:buNone/>
            </a:pPr>
            <a:endParaRPr lang="en-US" dirty="0"/>
          </a:p>
          <a:p>
            <a:pPr marL="0" indent="0">
              <a:buNone/>
            </a:pPr>
            <a:r>
              <a:rPr lang="en-US" b="1" u="sng" dirty="0"/>
              <a:t>Disadvantage: </a:t>
            </a:r>
          </a:p>
          <a:p>
            <a:pPr marL="0" indent="0">
              <a:buNone/>
            </a:pPr>
            <a:endParaRPr lang="en-US" b="1" u="sng" dirty="0"/>
          </a:p>
          <a:p>
            <a:r>
              <a:rPr lang="en-US" sz="2900" b="1" dirty="0">
                <a:latin typeface="Calibri" panose="020F0502020204030204" pitchFamily="34" charset="0"/>
                <a:ea typeface="Calibri" panose="020F0502020204030204" pitchFamily="34" charset="0"/>
                <a:cs typeface="Calibri" panose="020F0502020204030204" pitchFamily="34" charset="0"/>
              </a:rPr>
              <a:t>High Computational Cost:</a:t>
            </a:r>
            <a:r>
              <a:rPr lang="en-US" sz="2900" dirty="0">
                <a:latin typeface="Calibri" panose="020F0502020204030204" pitchFamily="34" charset="0"/>
                <a:ea typeface="Calibri" panose="020F0502020204030204" pitchFamily="34" charset="0"/>
                <a:cs typeface="Calibri" panose="020F0502020204030204" pitchFamily="34" charset="0"/>
              </a:rPr>
              <a:t> Training can be intensive and slow, especially on very large datasets with deep trees.</a:t>
            </a:r>
          </a:p>
          <a:p>
            <a:r>
              <a:rPr lang="en-US" sz="2900" b="1" dirty="0">
                <a:latin typeface="Calibri" panose="020F0502020204030204" pitchFamily="34" charset="0"/>
                <a:ea typeface="Calibri" panose="020F0502020204030204" pitchFamily="34" charset="0"/>
                <a:cs typeface="Calibri" panose="020F0502020204030204" pitchFamily="34" charset="0"/>
              </a:rPr>
              <a:t>Overfitting Risk:</a:t>
            </a:r>
            <a:r>
              <a:rPr lang="en-US" sz="2900" dirty="0">
                <a:latin typeface="Calibri" panose="020F0502020204030204" pitchFamily="34" charset="0"/>
                <a:ea typeface="Calibri" panose="020F0502020204030204" pitchFamily="34" charset="0"/>
                <a:cs typeface="Calibri" panose="020F0502020204030204" pitchFamily="34" charset="0"/>
              </a:rPr>
              <a:t> If hyperparameters (e.g., </a:t>
            </a:r>
            <a:r>
              <a:rPr lang="en-US" sz="2900" dirty="0" err="1">
                <a:latin typeface="Calibri" panose="020F0502020204030204" pitchFamily="34" charset="0"/>
                <a:ea typeface="Calibri" panose="020F0502020204030204" pitchFamily="34" charset="0"/>
                <a:cs typeface="Calibri" panose="020F0502020204030204" pitchFamily="34" charset="0"/>
              </a:rPr>
              <a:t>max_depth</a:t>
            </a:r>
            <a:r>
              <a:rPr lang="en-US" sz="2900" dirty="0">
                <a:latin typeface="Calibri" panose="020F0502020204030204" pitchFamily="34" charset="0"/>
                <a:ea typeface="Calibri" panose="020F0502020204030204" pitchFamily="34" charset="0"/>
                <a:cs typeface="Calibri" panose="020F0502020204030204" pitchFamily="34" charset="0"/>
              </a:rPr>
              <a:t>, </a:t>
            </a:r>
            <a:r>
              <a:rPr lang="en-US" sz="2900" dirty="0" err="1">
                <a:latin typeface="Calibri" panose="020F0502020204030204" pitchFamily="34" charset="0"/>
                <a:ea typeface="Calibri" panose="020F0502020204030204" pitchFamily="34" charset="0"/>
                <a:cs typeface="Calibri" panose="020F0502020204030204" pitchFamily="34" charset="0"/>
              </a:rPr>
              <a:t>learning_rate</a:t>
            </a:r>
            <a:r>
              <a:rPr lang="en-US" sz="2900" dirty="0">
                <a:latin typeface="Calibri" panose="020F0502020204030204" pitchFamily="34" charset="0"/>
                <a:ea typeface="Calibri" panose="020F0502020204030204" pitchFamily="34" charset="0"/>
                <a:cs typeface="Calibri" panose="020F0502020204030204" pitchFamily="34" charset="0"/>
              </a:rPr>
              <a:t>) are not tuned properly, it can easily overfit noisy data.</a:t>
            </a:r>
          </a:p>
          <a:p>
            <a:r>
              <a:rPr lang="en-US" sz="2900" b="1" dirty="0">
                <a:latin typeface="Calibri" panose="020F0502020204030204" pitchFamily="34" charset="0"/>
                <a:ea typeface="Calibri" panose="020F0502020204030204" pitchFamily="34" charset="0"/>
                <a:cs typeface="Calibri" panose="020F0502020204030204" pitchFamily="34" charset="0"/>
              </a:rPr>
              <a:t>Complex Hyperparameter Tuning:</a:t>
            </a:r>
            <a:r>
              <a:rPr lang="en-US" sz="2900" dirty="0">
                <a:latin typeface="Calibri" panose="020F0502020204030204" pitchFamily="34" charset="0"/>
                <a:ea typeface="Calibri" panose="020F0502020204030204" pitchFamily="34" charset="0"/>
                <a:cs typeface="Calibri" panose="020F0502020204030204" pitchFamily="34" charset="0"/>
              </a:rPr>
              <a:t> Requires extensive tuning of parameters like learning rate, subsample, and </a:t>
            </a:r>
            <a:r>
              <a:rPr lang="en-US" sz="2900" dirty="0" err="1">
                <a:latin typeface="Calibri" panose="020F0502020204030204" pitchFamily="34" charset="0"/>
                <a:ea typeface="Calibri" panose="020F0502020204030204" pitchFamily="34" charset="0"/>
                <a:cs typeface="Calibri" panose="020F0502020204030204" pitchFamily="34" charset="0"/>
              </a:rPr>
              <a:t>colsample_bytree</a:t>
            </a:r>
            <a:r>
              <a:rPr lang="en-US" sz="2900" dirty="0">
                <a:latin typeface="Calibri" panose="020F0502020204030204" pitchFamily="34" charset="0"/>
                <a:ea typeface="Calibri" panose="020F0502020204030204" pitchFamily="34" charset="0"/>
                <a:cs typeface="Calibri" panose="020F0502020204030204" pitchFamily="34" charset="0"/>
              </a:rPr>
              <a:t> to achieve optimal results.</a:t>
            </a:r>
          </a:p>
          <a:p>
            <a:r>
              <a:rPr lang="en-US" sz="2900" b="1" dirty="0">
                <a:latin typeface="Calibri" panose="020F0502020204030204" pitchFamily="34" charset="0"/>
                <a:ea typeface="Calibri" panose="020F0502020204030204" pitchFamily="34" charset="0"/>
                <a:cs typeface="Calibri" panose="020F0502020204030204" pitchFamily="34" charset="0"/>
              </a:rPr>
              <a:t>Low Interpretability:</a:t>
            </a:r>
            <a:r>
              <a:rPr lang="en-US" sz="2900" dirty="0">
                <a:latin typeface="Calibri" panose="020F0502020204030204" pitchFamily="34" charset="0"/>
                <a:ea typeface="Calibri" panose="020F0502020204030204" pitchFamily="34" charset="0"/>
                <a:cs typeface="Calibri" panose="020F0502020204030204" pitchFamily="34" charset="0"/>
              </a:rPr>
              <a:t> The ensemble nature of the model makes it a "black-box," making it harder to explain compared to linear regression.</a:t>
            </a:r>
          </a:p>
          <a:p>
            <a:r>
              <a:rPr lang="en-US" sz="2900" b="1" dirty="0">
                <a:latin typeface="Calibri" panose="020F0502020204030204" pitchFamily="34" charset="0"/>
                <a:ea typeface="Calibri" panose="020F0502020204030204" pitchFamily="34" charset="0"/>
                <a:cs typeface="Calibri" panose="020F0502020204030204" pitchFamily="34" charset="0"/>
              </a:rPr>
              <a:t>Memory Usage:</a:t>
            </a:r>
            <a:r>
              <a:rPr lang="en-US" sz="2900" dirty="0">
                <a:latin typeface="Calibri" panose="020F0502020204030204" pitchFamily="34" charset="0"/>
                <a:ea typeface="Calibri" panose="020F0502020204030204" pitchFamily="34" charset="0"/>
                <a:cs typeface="Calibri" panose="020F0502020204030204" pitchFamily="34" charset="0"/>
              </a:rPr>
              <a:t> Can have high memory consumption, as it may need to load the entire dataset into memory</a:t>
            </a:r>
          </a:p>
          <a:p>
            <a:pPr marL="0" indent="0">
              <a:buNone/>
            </a:pPr>
            <a:endParaRPr lang="en-US" b="1" u="sng" dirty="0"/>
          </a:p>
        </p:txBody>
      </p:sp>
    </p:spTree>
    <p:extLst>
      <p:ext uri="{BB962C8B-B14F-4D97-AF65-F5344CB8AC3E}">
        <p14:creationId xmlns:p14="http://schemas.microsoft.com/office/powerpoint/2010/main" val="3479121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B152E-ADA8-6381-F2AC-6C25B3B92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16EEF-D0F6-6E6B-4AE1-3BB0E0FAC16D}"/>
              </a:ext>
            </a:extLst>
          </p:cNvPr>
          <p:cNvSpPr>
            <a:spLocks noGrp="1"/>
          </p:cNvSpPr>
          <p:nvPr>
            <p:ph type="ctrTitle"/>
          </p:nvPr>
        </p:nvSpPr>
        <p:spPr>
          <a:xfrm>
            <a:off x="1267968" y="353569"/>
            <a:ext cx="9144000" cy="426719"/>
          </a:xfrm>
        </p:spPr>
        <p:txBody>
          <a:bodyPr>
            <a:normAutofit fontScale="90000"/>
          </a:bodyPr>
          <a:lstStyle/>
          <a:p>
            <a:r>
              <a:rPr lang="en-US" sz="3200" dirty="0" err="1"/>
              <a:t>LGBoost</a:t>
            </a:r>
            <a:r>
              <a:rPr lang="en-US" sz="3200" dirty="0"/>
              <a:t> Algorithm </a:t>
            </a:r>
          </a:p>
        </p:txBody>
      </p:sp>
      <p:sp>
        <p:nvSpPr>
          <p:cNvPr id="3" name="Subtitle 2">
            <a:extLst>
              <a:ext uri="{FF2B5EF4-FFF2-40B4-BE49-F238E27FC236}">
                <a16:creationId xmlns:a16="http://schemas.microsoft.com/office/drawing/2014/main" id="{082D966C-F108-ED1B-A4F5-AC5A80294B4B}"/>
              </a:ext>
            </a:extLst>
          </p:cNvPr>
          <p:cNvSpPr>
            <a:spLocks noGrp="1"/>
          </p:cNvSpPr>
          <p:nvPr>
            <p:ph type="subTitle" idx="1"/>
          </p:nvPr>
        </p:nvSpPr>
        <p:spPr>
          <a:xfrm>
            <a:off x="1267968" y="780288"/>
            <a:ext cx="10107168" cy="5864352"/>
          </a:xfrm>
        </p:spPr>
        <p:txBody>
          <a:bodyPr>
            <a:normAutofit/>
          </a:bodyPr>
          <a:lstStyle/>
          <a:p>
            <a:pPr algn="l"/>
            <a:r>
              <a:rPr lang="en-US" sz="2000" u="sng" dirty="0" err="1">
                <a:latin typeface="Calibri" panose="020F0502020204030204" pitchFamily="34" charset="0"/>
                <a:ea typeface="Calibri" panose="020F0502020204030204" pitchFamily="34" charset="0"/>
                <a:cs typeface="Calibri" panose="020F0502020204030204" pitchFamily="34" charset="0"/>
              </a:rPr>
              <a:t>LGBoost</a:t>
            </a:r>
            <a:r>
              <a:rPr lang="en-US" sz="2000" u="sng" dirty="0">
                <a:latin typeface="Calibri" panose="020F0502020204030204" pitchFamily="34" charset="0"/>
                <a:ea typeface="Calibri" panose="020F0502020204030204" pitchFamily="34" charset="0"/>
                <a:cs typeface="Calibri" panose="020F0502020204030204" pitchFamily="34" charset="0"/>
              </a:rPr>
              <a:t> Algorithm</a:t>
            </a:r>
            <a:r>
              <a:rPr lang="en-US" sz="2000" u="sng"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(Light Gradient Boosting):</a:t>
            </a:r>
            <a:endParaRPr lang="en-US" sz="2000" u="sng" dirty="0">
              <a:latin typeface="Calibri" panose="020F0502020204030204" pitchFamily="34" charset="0"/>
              <a:ea typeface="Calibri" panose="020F0502020204030204" pitchFamily="34" charset="0"/>
              <a:cs typeface="Calibri" panose="020F0502020204030204" pitchFamily="34" charset="0"/>
            </a:endParaRPr>
          </a:p>
          <a:p>
            <a:pPr algn="l"/>
            <a:r>
              <a:rPr lang="en-US" sz="2000" dirty="0" err="1">
                <a:latin typeface="Calibri" panose="020F0502020204030204" pitchFamily="34" charset="0"/>
                <a:ea typeface="Calibri" panose="020F0502020204030204" pitchFamily="34" charset="0"/>
                <a:cs typeface="Calibri" panose="020F0502020204030204" pitchFamily="34" charset="0"/>
              </a:rPr>
              <a:t>LGBoost</a:t>
            </a:r>
            <a:r>
              <a:rPr lang="en-US" sz="2000" dirty="0">
                <a:latin typeface="Calibri" panose="020F0502020204030204" pitchFamily="34" charset="0"/>
                <a:ea typeface="Calibri" panose="020F0502020204030204" pitchFamily="34" charset="0"/>
                <a:cs typeface="Calibri" panose="020F0502020204030204" pitchFamily="34" charset="0"/>
              </a:rPr>
              <a:t> an ensemble learning technique that combines multiple weak models to create a strong predictive model.</a:t>
            </a:r>
          </a:p>
          <a:p>
            <a:pPr marL="342900" indent="-342900" algn="l" fontAlgn="base">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It's designed for efficiency, scalability and high accuracy particularly with large datasets. It uses decision trees that grow efficiently by minimizing memory usage and optimizing training time. Key innovations like Gradient-based One-Side Sampling (GOSS), histogram-based algorithms and leaf-wise tree growth enable </a:t>
            </a:r>
            <a:r>
              <a:rPr lang="en-US" sz="2000" dirty="0" err="1">
                <a:latin typeface="Calibri" panose="020F0502020204030204" pitchFamily="34" charset="0"/>
                <a:ea typeface="Calibri" panose="020F0502020204030204" pitchFamily="34" charset="0"/>
                <a:cs typeface="Calibri" panose="020F0502020204030204" pitchFamily="34" charset="0"/>
              </a:rPr>
              <a:t>LightGBM</a:t>
            </a:r>
            <a:r>
              <a:rPr lang="en-US" sz="2000" dirty="0">
                <a:latin typeface="Calibri" panose="020F0502020204030204" pitchFamily="34" charset="0"/>
                <a:ea typeface="Calibri" panose="020F0502020204030204" pitchFamily="34" charset="0"/>
                <a:cs typeface="Calibri" panose="020F0502020204030204" pitchFamily="34" charset="0"/>
              </a:rPr>
              <a:t> to outperform other frameworks in both speed and accuracy</a:t>
            </a:r>
            <a:r>
              <a:rPr lang="en-US" dirty="0"/>
              <a:t>.</a:t>
            </a:r>
          </a:p>
          <a:p>
            <a:pPr marL="342900" indent="-342900" algn="l" fontAlgn="base">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main objective is to minimize the loss function </a:t>
            </a:r>
          </a:p>
          <a:p>
            <a:pPr algn="l"/>
            <a:endParaRPr lang="en-US" sz="2000" dirty="0">
              <a:latin typeface="Calibri" panose="020F0502020204030204" pitchFamily="34" charset="0"/>
              <a:ea typeface="Calibri" panose="020F0502020204030204" pitchFamily="34" charset="0"/>
              <a:cs typeface="Calibri" panose="020F0502020204030204" pitchFamily="34" charset="0"/>
            </a:endParaRPr>
          </a:p>
          <a:p>
            <a:pPr algn="l"/>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58CFE50-C168-0EDF-653B-681B0C68C3BC}"/>
              </a:ext>
            </a:extLst>
          </p:cNvPr>
          <p:cNvPicPr>
            <a:picLocks noChangeAspect="1"/>
          </p:cNvPicPr>
          <p:nvPr/>
        </p:nvPicPr>
        <p:blipFill>
          <a:blip r:embed="rId2"/>
          <a:stretch>
            <a:fillRect/>
          </a:stretch>
        </p:blipFill>
        <p:spPr>
          <a:xfrm>
            <a:off x="3158675" y="3832331"/>
            <a:ext cx="5362585" cy="2672100"/>
          </a:xfrm>
          <a:prstGeom prst="rect">
            <a:avLst/>
          </a:prstGeom>
        </p:spPr>
      </p:pic>
    </p:spTree>
    <p:extLst>
      <p:ext uri="{BB962C8B-B14F-4D97-AF65-F5344CB8AC3E}">
        <p14:creationId xmlns:p14="http://schemas.microsoft.com/office/powerpoint/2010/main" val="9804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0184D-17B7-EC42-B527-0AE5CE664A6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FD8750F-BCEF-DF52-1AB7-1C2A083DF824}"/>
              </a:ext>
            </a:extLst>
          </p:cNvPr>
          <p:cNvSpPr>
            <a:spLocks noGrp="1" noChangeArrowheads="1"/>
          </p:cNvSpPr>
          <p:nvPr>
            <p:ph idx="1"/>
          </p:nvPr>
        </p:nvSpPr>
        <p:spPr bwMode="auto">
          <a:xfrm>
            <a:off x="274528" y="324185"/>
            <a:ext cx="11649248"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1D35"/>
                </a:solidFill>
                <a:effectLst/>
                <a:latin typeface="Calibri" panose="020F0502020204030204" pitchFamily="34" charset="0"/>
                <a:ea typeface="Calibri" panose="020F0502020204030204" pitchFamily="34" charset="0"/>
                <a:cs typeface="Calibri" panose="020F0502020204030204" pitchFamily="34" charset="0"/>
              </a:rPr>
              <a:t>Advantages of the </a:t>
            </a:r>
            <a:r>
              <a:rPr kumimoji="0" lang="en-US" altLang="en-US" sz="1600" b="1" i="0" u="none" strike="noStrike" cap="none" normalizeH="0" baseline="0" dirty="0" err="1">
                <a:ln>
                  <a:noFill/>
                </a:ln>
                <a:solidFill>
                  <a:srgbClr val="001D35"/>
                </a:solidFill>
                <a:effectLst/>
                <a:latin typeface="Calibri" panose="020F0502020204030204" pitchFamily="34" charset="0"/>
                <a:ea typeface="Calibri" panose="020F0502020204030204" pitchFamily="34" charset="0"/>
                <a:cs typeface="Calibri" panose="020F0502020204030204" pitchFamily="34" charset="0"/>
              </a:rPr>
              <a:t>LightGBM</a:t>
            </a:r>
            <a:r>
              <a:rPr kumimoji="0" lang="en-US" altLang="en-US" sz="1600" b="1" i="0" u="none" strike="noStrike" cap="none" normalizeH="0" baseline="0" dirty="0">
                <a:ln>
                  <a:noFill/>
                </a:ln>
                <a:solidFill>
                  <a:srgbClr val="001D35"/>
                </a:solidFill>
                <a:effectLst/>
                <a:latin typeface="Calibri" panose="020F0502020204030204" pitchFamily="34" charset="0"/>
                <a:ea typeface="Calibri" panose="020F0502020204030204" pitchFamily="34" charset="0"/>
                <a:cs typeface="Calibri" panose="020F0502020204030204" pitchFamily="34" charset="0"/>
              </a:rPr>
              <a:t> Algorithm</a:t>
            </a: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Faster Training Speed &amp; Higher Efficiency:</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LightGBM</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is significantly faster than other algorithms like </a:t>
            </a:r>
            <a:r>
              <a:rPr kumimoji="0" lang="en-US" altLang="en-US" sz="1600" b="0" i="0" u="none" strike="noStrike" cap="none" normalizeH="0" baseline="0" dirty="0" err="1">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XGBoost</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due to its leaf-wise splitting method and use of histogram-based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Lower Memory Usage:</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It is optimized for memory efficiency, enabling it to handle large datasets with minimal overhead.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Better Accuracy:</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The leaf-wise growth approach helps in creating more complex, deeper trees that can capture intricate patterns in the data, often leading to state-of-the-art predictive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Handles Large Datasets Effectively:</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Its optimizations make it well-suited for big data applications where other algorithms may struggle with computational expense.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Parallel and GPU Learning Support:</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The algorithm supports parallel and GPU accelerated training, further enhancing its speed and 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Efficient Handling of Categorical Variables: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LightGBM</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uses categorical feature binning, which is more efficient and accurate for high-cardinality categorical data than traditional one-hot encoding.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solidFill>
                <a:srgbClr val="0A0A0A"/>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1D35"/>
                </a:solidFill>
                <a:effectLst/>
                <a:latin typeface="Calibri" panose="020F0502020204030204" pitchFamily="34" charset="0"/>
                <a:ea typeface="Calibri" panose="020F0502020204030204" pitchFamily="34" charset="0"/>
                <a:cs typeface="Calibri" panose="020F0502020204030204" pitchFamily="34" charset="0"/>
              </a:rPr>
              <a:t>Disadvantages of the </a:t>
            </a:r>
            <a:r>
              <a:rPr kumimoji="0" lang="en-US" altLang="en-US" sz="1600" b="1" i="0" u="none" strike="noStrike" cap="none" normalizeH="0" baseline="0" dirty="0" err="1">
                <a:ln>
                  <a:noFill/>
                </a:ln>
                <a:solidFill>
                  <a:srgbClr val="001D35"/>
                </a:solidFill>
                <a:effectLst/>
                <a:latin typeface="Calibri" panose="020F0502020204030204" pitchFamily="34" charset="0"/>
                <a:ea typeface="Calibri" panose="020F0502020204030204" pitchFamily="34" charset="0"/>
                <a:cs typeface="Calibri" panose="020F0502020204030204" pitchFamily="34" charset="0"/>
              </a:rPr>
              <a:t>LightGBM</a:t>
            </a:r>
            <a:r>
              <a:rPr kumimoji="0" lang="en-US" altLang="en-US" sz="1600" b="1" i="0" u="none" strike="noStrike" cap="none" normalizeH="0" baseline="0" dirty="0">
                <a:ln>
                  <a:noFill/>
                </a:ln>
                <a:solidFill>
                  <a:srgbClr val="001D35"/>
                </a:solidFill>
                <a:effectLst/>
                <a:latin typeface="Calibri" panose="020F0502020204030204" pitchFamily="34" charset="0"/>
                <a:ea typeface="Calibri" panose="020F0502020204030204" pitchFamily="34" charset="0"/>
                <a:cs typeface="Calibri" panose="020F0502020204030204" pitchFamily="34" charset="0"/>
              </a:rPr>
              <a:t> Algorithm</a:t>
            </a: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Prone to Overfitting on Small Datasets: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The leaf-wise growth strategy, while accurate, can lead to the model becoming too complex and overfitting the training data when the number of observations is small.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Complexity in Hyperparameter Tuning:</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LightGBM</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has numerous hyperparameters, and finding the optimal combination can be challenging and may require extensive experimentation.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Less Interpretable:</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The deeper and more complex trees resulting from the leaf-wise growth strategy can make the model more difficult to interpret and understand compared to simpler models or algorithms that grow trees level-wise.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Sensitive to Outliers/Noise (General Boosting Trait):</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Like other boosting algorithms, it can be sensitive to noisy data and outliers, as each subsequent model focuses on correcting the errors of the previous ones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5186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TotalTime>
  <Words>786</Words>
  <Application>Microsoft Office PowerPoint</Application>
  <PresentationFormat>Widescreen</PresentationFormat>
  <Paragraphs>49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Boosting Algorithm </vt:lpstr>
      <vt:lpstr>PowerPoint Presentation</vt:lpstr>
      <vt:lpstr>XGBoost Algorithm </vt:lpstr>
      <vt:lpstr>PowerPoint Presentation</vt:lpstr>
      <vt:lpstr>LGBoost Algorithm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Sudha Arumugam</dc:creator>
  <cp:lastModifiedBy>Sudha Arumugam</cp:lastModifiedBy>
  <cp:revision>4</cp:revision>
  <dcterms:created xsi:type="dcterms:W3CDTF">2026-03-11T05:03:17Z</dcterms:created>
  <dcterms:modified xsi:type="dcterms:W3CDTF">2026-03-12T02:14:04Z</dcterms:modified>
</cp:coreProperties>
</file>